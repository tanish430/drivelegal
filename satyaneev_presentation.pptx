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86275" cy="51435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" name="Shape 1"/>
          <p:cNvSpPr/>
          <p:nvPr/>
        </p:nvSpPr>
        <p:spPr>
          <a:xfrm>
            <a:off x="4429125" y="0"/>
            <a:ext cx="57150" cy="5143500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937924"/>
            <a:ext cx="3571875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Satyaneev</a:t>
            </a:r>
            <a:r>
              <a:rPr lang="en-US" sz="3750" b="1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
</a:t>
            </a:r>
            <a:r>
              <a:rPr lang="en-US" sz="2750" b="1" dirty="0">
                <a:solidFill>
                  <a:srgbClr val="D9381E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सत्यनीव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2440958"/>
            <a:ext cx="35718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D938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ROAD SAFETY TELEMETRY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" y="3769695"/>
            <a:ext cx="35718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Tanish 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4092950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F6F8">
                    <a:alpha val="8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Ministry of Road Transport and Highways (MoRTH)</a:t>
            </a:r>
            <a:r>
              <a:rPr lang="en-US" sz="850" dirty="0">
                <a:solidFill>
                  <a:srgbClr val="F4F6F8">
                    <a:alpha val="8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</a:t>
            </a:r>
            <a:r>
              <a:rPr lang="en-US" sz="850" dirty="0">
                <a:solidFill>
                  <a:srgbClr val="F4F6F8">
                    <a:alpha val="8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Government of India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429125" y="0"/>
            <a:ext cx="4714875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429125" y="0"/>
            <a:ext cx="4714875" cy="5143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13264" y="4329113"/>
            <a:ext cx="2744986" cy="528638"/>
          </a:xfrm>
          <a:prstGeom prst="rect">
            <a:avLst/>
          </a:prstGeom>
          <a:solidFill>
            <a:srgbClr val="1A1A24">
              <a:alpha val="9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113264" y="4329113"/>
            <a:ext cx="28575" cy="528638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13" name="Text 9"/>
          <p:cNvSpPr/>
          <p:nvPr/>
        </p:nvSpPr>
        <p:spPr>
          <a:xfrm>
            <a:off x="6499027" y="4471988"/>
            <a:ext cx="214491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4F6F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NATIONAL ROAD SAFETY COUNCIL</a:t>
            </a:r>
            <a:r>
              <a:rPr lang="en-US" sz="700" b="1" spc="1" kern="0" dirty="0">
                <a:solidFill>
                  <a:srgbClr val="F4F6F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700" b="1" spc="1" kern="0" dirty="0">
                <a:solidFill>
                  <a:srgbClr val="D9381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ENSURING SAFETY, BUILDING TRUST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3986213" cy="51435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" name="Shape 1"/>
          <p:cNvSpPr/>
          <p:nvPr/>
        </p:nvSpPr>
        <p:spPr>
          <a:xfrm>
            <a:off x="3986213" y="57150"/>
            <a:ext cx="57150" cy="5143500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28650"/>
            <a:ext cx="3214688" cy="714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5775" y="1677777"/>
            <a:ext cx="3214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The Road Safety &amp; Compliance Crisis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485775" y="2626444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6F8">
                    <a:alpha val="8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Addressing critical gaps in current traffic enforcement and citizen awareness frameworks.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8" y="247352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93444" y="200025"/>
            <a:ext cx="1827014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Inefficient Auditing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414838" y="537567"/>
            <a:ext cx="4500563" cy="38576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Telemetry auditing is slow and manual, relying on static regional checks that lack scalability and real-time accuracy.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838" y="1127820"/>
            <a:ext cx="128588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50581" y="1080492"/>
            <a:ext cx="222527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Compliance Infractions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414838" y="1418034"/>
            <a:ext cx="4500563" cy="38576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Lack of context-aware feedback on Section 112 speed limits leads to preventable penalties and unsafe driving habits.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838" y="2008287"/>
            <a:ext cx="214313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736306" y="1960959"/>
            <a:ext cx="174843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Language Barriers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4414838" y="2298502"/>
            <a:ext cx="4500563" cy="38576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Road safety rules and AI support are inaccessible in regional languages, excluding a vast majority of the population.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838" y="2888754"/>
            <a:ext cx="214313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736306" y="2841427"/>
            <a:ext cx="139303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Safety Hazards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4414838" y="3178969"/>
            <a:ext cx="4500563" cy="578644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Manual speed checks while driving cause dangerous distractions, increasing the risk of accidents on national highways.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28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The Satyaneev Solution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413318"/>
            <a:ext cx="8286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9381E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Comprehensive Framework for Real-Time Monitoring and Legal Awareness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28625" y="1800867"/>
            <a:ext cx="457200" cy="4857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258067"/>
            <a:ext cx="457200" cy="28575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1915167"/>
            <a:ext cx="25717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1972317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Automated Speed Auditing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00125" y="2486667"/>
            <a:ext cx="13716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Uses GPS geofencing to lock regional limits (e.g., Delhi: 60 km/h) and automate compliance audits across India's road network.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543175" y="1800867"/>
            <a:ext cx="457200" cy="4857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1" name="Shape 7"/>
          <p:cNvSpPr/>
          <p:nvPr/>
        </p:nvSpPr>
        <p:spPr>
          <a:xfrm>
            <a:off x="2543175" y="2258067"/>
            <a:ext cx="457200" cy="28575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915167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14675" y="1972317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Multi-Sensory Warnings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114675" y="2486667"/>
            <a:ext cx="1371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Alerts speeding riders instantly via Visual Flash, Haptic Vibration, and Voice Warnings in their selected native language.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657725" y="1800867"/>
            <a:ext cx="457200" cy="4857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6" name="Shape 11"/>
          <p:cNvSpPr/>
          <p:nvPr/>
        </p:nvSpPr>
        <p:spPr>
          <a:xfrm>
            <a:off x="4657725" y="2258067"/>
            <a:ext cx="457200" cy="28575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1915167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29225" y="1972317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Multilingual Portal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229225" y="2486667"/>
            <a:ext cx="1371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Professional tricolor-themed interface supporting English, Hindi, Tamil, and Kannada for maximum national inclusivity.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772275" y="1800867"/>
            <a:ext cx="457200" cy="4857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1" name="Shape 15"/>
          <p:cNvSpPr/>
          <p:nvPr/>
        </p:nvSpPr>
        <p:spPr>
          <a:xfrm>
            <a:off x="6772275" y="2258067"/>
            <a:ext cx="457200" cy="28575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915167"/>
            <a:ext cx="28575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43775" y="1972317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Citizen e-Sahayak AI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343775" y="2486667"/>
            <a:ext cx="1371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Secure chatbot citing Motor Vehicle Act laws and penalties using advanced LLM inference with NIC-MoRTH seals.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863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0525" cy="508635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" name="Shape 1"/>
          <p:cNvSpPr/>
          <p:nvPr/>
        </p:nvSpPr>
        <p:spPr>
          <a:xfrm>
            <a:off x="4143375" y="0"/>
            <a:ext cx="57150" cy="5086350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571500"/>
            <a:ext cx="714375" cy="714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1770506"/>
            <a:ext cx="34290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Interactive Telemetry &amp; AI Support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428625" y="2782016"/>
            <a:ext cx="3429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4F6F8">
                    <a:alpha val="8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Empowering drivers with real-time GIS mapping and voice-activated legal assistance for safer journeys.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567035"/>
            <a:ext cx="16073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75584" y="514350"/>
            <a:ext cx="18859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Vahan Telemetry Map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429125" y="876895"/>
            <a:ext cx="4286250" cy="342900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Drivers track live location on GIS Leaflet maps with real-time displays of designated speed limits and geofenced zones.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601093"/>
            <a:ext cx="160734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75584" y="1548408"/>
            <a:ext cx="257532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Intelligent Overspeed Auditor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429125" y="1910953"/>
            <a:ext cx="4286250" cy="342900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Exceeding limits triggers immediate haptic pulses and speech synthesis warnings with an 8-second audio overlap cool-down.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2635151"/>
            <a:ext cx="107156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22006" y="2582466"/>
            <a:ext cx="198953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Hands-Free e-Sahayak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429125" y="2945011"/>
            <a:ext cx="4286250" cy="342900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Voice-to-text typing allows drivers to query legal sections safely, featuring official NIC-MoRTH certified seals for all responses.</a:t>
            </a:r>
            <a:endParaRPr lang="en-US" sz="8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5" y="3669209"/>
            <a:ext cx="14287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657725" y="3616523"/>
            <a:ext cx="201453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Sarathi Awareness Test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4429125" y="3979069"/>
            <a:ext cx="4286250" cy="342900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Encourages civic awareness by awarding printable certificates to citizens who demonstrate 100% proficiency in road safety tests.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Scalable Modern Architecture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70481"/>
            <a:ext cx="1857375" cy="78581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313431"/>
            <a:ext cx="1857375" cy="42863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770506"/>
            <a:ext cx="428625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9181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Core Frontend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3070668"/>
            <a:ext cx="57150" cy="57150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3013518"/>
            <a:ext cx="1714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1A1A2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React 19 + Vite 8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14375" y="3217813"/>
            <a:ext cx="1662708" cy="32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Ultra-fast SPA rendering and modern state management.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619356" y="1570481"/>
            <a:ext cx="1857375" cy="78581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2" name="Shape 8"/>
          <p:cNvSpPr/>
          <p:nvPr/>
        </p:nvSpPr>
        <p:spPr>
          <a:xfrm>
            <a:off x="2619356" y="2313431"/>
            <a:ext cx="1857375" cy="42863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594" y="1770506"/>
            <a:ext cx="342900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19356" y="2599181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Styling Layer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619356" y="3070668"/>
            <a:ext cx="57150" cy="57150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16" name="Text 11"/>
          <p:cNvSpPr/>
          <p:nvPr/>
        </p:nvSpPr>
        <p:spPr>
          <a:xfrm>
            <a:off x="2762231" y="3013518"/>
            <a:ext cx="1714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1A1A2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2762231" y="3217813"/>
            <a:ext cx="1446609" cy="50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Government theme compliance with custom MoRTH components.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67213" y="1570481"/>
            <a:ext cx="1857375" cy="78581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9" name="Shape 14"/>
          <p:cNvSpPr/>
          <p:nvPr/>
        </p:nvSpPr>
        <p:spPr>
          <a:xfrm>
            <a:off x="4667213" y="2313431"/>
            <a:ext cx="1857375" cy="42863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019" y="1770506"/>
            <a:ext cx="385763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7213" y="2599181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GIS Mapping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67213" y="3070668"/>
            <a:ext cx="57150" cy="57150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23" name="Text 17"/>
          <p:cNvSpPr/>
          <p:nvPr/>
        </p:nvSpPr>
        <p:spPr>
          <a:xfrm>
            <a:off x="4810088" y="3013518"/>
            <a:ext cx="1714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1A1A2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React-Leaflet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810088" y="3217813"/>
            <a:ext cx="1628775" cy="50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OpenStreetMap integration requiring no proprietary API keys.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6715069" y="1570481"/>
            <a:ext cx="1857375" cy="78581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6" name="Shape 20"/>
          <p:cNvSpPr/>
          <p:nvPr/>
        </p:nvSpPr>
        <p:spPr>
          <a:xfrm>
            <a:off x="6715069" y="2313431"/>
            <a:ext cx="1857375" cy="42863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307" y="1770506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15069" y="2599181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AI Inference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715069" y="3070668"/>
            <a:ext cx="57150" cy="57150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30" name="Text 23"/>
          <p:cNvSpPr/>
          <p:nvPr/>
        </p:nvSpPr>
        <p:spPr>
          <a:xfrm>
            <a:off x="6857944" y="3013518"/>
            <a:ext cx="1714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1A1A2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OpenRouter API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857944" y="3217813"/>
            <a:ext cx="1526977" cy="50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Gemma 31B and Llama 3.3 for legal citations and chatbot.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43350" cy="51435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" name="Shape 1"/>
          <p:cNvSpPr/>
          <p:nvPr/>
        </p:nvSpPr>
        <p:spPr>
          <a:xfrm>
            <a:off x="3886200" y="0"/>
            <a:ext cx="57150" cy="5143500"/>
          </a:xfrm>
          <a:prstGeom prst="rect">
            <a:avLst/>
          </a:prstGeom>
          <a:solidFill>
            <a:srgbClr val="D9381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571500"/>
            <a:ext cx="3429000" cy="857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1856231"/>
            <a:ext cx="3429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Privacy-First Architecture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285750" y="3036345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6F8">
                    <a:alpha val="8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Protecting citizen data through in-memory processing and encrypted transport protocols.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617041"/>
            <a:ext cx="176808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34483" y="571500"/>
            <a:ext cx="213598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Zero Data Storage Policy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171950" y="941189"/>
            <a:ext cx="4686300" cy="364331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Location, speed telemetry, and chat history are processed strictly in-memory; no personal data is saved or hosted on external databases.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1629668"/>
            <a:ext cx="137517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95192" y="1584127"/>
            <a:ext cx="19359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HTTPS-Only Security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171950" y="1953816"/>
            <a:ext cx="4686300" cy="364331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Fully protects location telemetries, voice transcripts, and AI API keys from man-in-the-middle attacks via end-to-end encryption.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950" y="2642295"/>
            <a:ext cx="157163" cy="1571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14838" y="2596753"/>
            <a:ext cx="197167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Device API Integration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171950" y="2966442"/>
            <a:ext cx="4686300" cy="364331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Optimized for secure local access to mobile GPS hardware, Web Speech API (voice typing), and Haptic Vibration API.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1950" y="3654921"/>
            <a:ext cx="157163" cy="15716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414838" y="3609380"/>
            <a:ext cx="146625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High Availability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4171950" y="3979069"/>
            <a:ext cx="4686300" cy="54649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Designed to maintain performance through secure, direct communication with upstream AI and mapping services without data persistence.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14850" cy="51435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" name="Shape 1"/>
          <p:cNvSpPr/>
          <p:nvPr/>
        </p:nvSpPr>
        <p:spPr>
          <a:xfrm>
            <a:off x="4486275" y="0"/>
            <a:ext cx="28575" cy="5143500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419095"/>
            <a:ext cx="3643313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Satyaneev:</a:t>
            </a:r>
            <a:r>
              <a:rPr lang="en-US" sz="245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
</a:t>
            </a:r>
            <a:r>
              <a:rPr lang="en-US" sz="245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"Ensuring Safety,</a:t>
            </a:r>
            <a:r>
              <a:rPr lang="en-US" sz="245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
</a:t>
            </a:r>
            <a:r>
              <a:rPr lang="en-US" sz="2450" b="1" dirty="0">
                <a:solidFill>
                  <a:srgbClr val="F4F6F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Building Trust"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2996385"/>
            <a:ext cx="364331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381E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Zero Fatalities through Real-Time Compliance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571456"/>
            <a:ext cx="36433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F6F8">
                    <a:alpha val="8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Thank You for Your Attention.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3800056"/>
            <a:ext cx="364331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Tanish 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29188" y="514350"/>
            <a:ext cx="3643313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929188" y="875109"/>
            <a:ext cx="3643313" cy="28575"/>
          </a:xfrm>
          <a:prstGeom prst="rect">
            <a:avLst/>
          </a:prstGeom>
          <a:solidFill>
            <a:srgbClr val="D9381E"/>
          </a:solidFill>
          <a:ln/>
        </p:spPr>
      </p:sp>
      <p:sp>
        <p:nvSpPr>
          <p:cNvPr id="11" name="Text 8"/>
          <p:cNvSpPr/>
          <p:nvPr/>
        </p:nvSpPr>
        <p:spPr>
          <a:xfrm>
            <a:off x="4929188" y="514350"/>
            <a:ext cx="3643313" cy="38933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The Road Ahead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1005483"/>
            <a:ext cx="150019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506" y="1150841"/>
            <a:ext cx="3378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Vahan &amp; Sarathi Integration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193506" y="1352652"/>
            <a:ext cx="33789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 synchronization with central databases for unified compliance records and automated penalty processing.</a:t>
            </a:r>
            <a:endParaRPr lang="en-US" sz="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788756"/>
            <a:ext cx="128588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72075" y="1934115"/>
            <a:ext cx="3400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PWA Deployment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172075" y="2135925"/>
            <a:ext cx="34004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Launching an offline-capable Progressive Web App to ensure safety features remain active in low-connectivity areas.</a:t>
            </a:r>
            <a:endParaRPr lang="en-US" sz="8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2732038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2877396"/>
            <a:ext cx="33147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National Scaling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257800" y="3079207"/>
            <a:ext cx="33147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Expanding geofencing coverage to all major National Highways and State Expressways across India.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4929188" y="3527813"/>
            <a:ext cx="3643313" cy="7572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4929188" y="3527813"/>
            <a:ext cx="364331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17"/>
          <p:cNvSpPr/>
          <p:nvPr/>
        </p:nvSpPr>
        <p:spPr>
          <a:xfrm>
            <a:off x="4929188" y="3684975"/>
            <a:ext cx="36433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National Road Safety Council (NRSC)</a:t>
            </a:r>
            <a:endParaRPr lang="en-US" sz="700" dirty="0"/>
          </a:p>
        </p:txBody>
      </p:sp>
      <p:sp>
        <p:nvSpPr>
          <p:cNvPr id="24" name="Text 18"/>
          <p:cNvSpPr/>
          <p:nvPr/>
        </p:nvSpPr>
        <p:spPr>
          <a:xfrm>
            <a:off x="4929188" y="3906431"/>
            <a:ext cx="36433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Ministry of Road Transport and Highways (MoRTH)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4929188" y="4127888"/>
            <a:ext cx="36433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D2D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Government of India | भारत सरकार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2026-06-23T01:35:58Z</dcterms:created>
  <dcterms:modified xsi:type="dcterms:W3CDTF">2026-06-23T01:35:58Z</dcterms:modified>
</cp:coreProperties>
</file>